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Montserrat" charset="1" panose="00000500000000000000"/>
      <p:regular r:id="rId9"/>
    </p:embeddedFont>
    <p:embeddedFont>
      <p:font typeface="Dream Avenue" charset="1" panose="02000503000000020004"/>
      <p:regular r:id="rId10"/>
    </p:embeddedFont>
    <p:embeddedFont>
      <p:font typeface="Inter Bold" charset="1" panose="020B0802030000000004"/>
      <p:regular r:id="rId11"/>
    </p:embeddedFont>
    <p:embeddedFont>
      <p:font typeface="Inter" charset="1" panose="020B0502030000000004"/>
      <p:regular r:id="rId12"/>
    </p:embeddedFont>
    <p:embeddedFont>
      <p:font typeface="Roboto Mono Bold" charset="1" panose="00000000000000000000"/>
      <p:regular r:id="rId13"/>
    </p:embeddedFont>
    <p:embeddedFont>
      <p:font typeface="Garet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171055" y="3301007"/>
            <a:ext cx="7667867" cy="7325758"/>
            <a:chOff x="0" y="0"/>
            <a:chExt cx="1094257" cy="1106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5527" cy="1107440"/>
            </a:xfrm>
            <a:custGeom>
              <a:avLst/>
              <a:gdLst/>
              <a:ahLst/>
              <a:cxnLst/>
              <a:rect r="r" b="b" t="t" l="l"/>
              <a:pathLst>
                <a:path h="1107440" w="1095527">
                  <a:moveTo>
                    <a:pt x="1094257" y="0"/>
                  </a:moveTo>
                  <a:lnTo>
                    <a:pt x="553720" y="0"/>
                  </a:lnTo>
                  <a:cubicBezTo>
                    <a:pt x="247650" y="0"/>
                    <a:pt x="0" y="247650"/>
                    <a:pt x="0" y="553720"/>
                  </a:cubicBezTo>
                  <a:cubicBezTo>
                    <a:pt x="0" y="859790"/>
                    <a:pt x="247650" y="1107440"/>
                    <a:pt x="553720" y="1107440"/>
                  </a:cubicBezTo>
                  <a:lnTo>
                    <a:pt x="1095527" y="1107440"/>
                  </a:lnTo>
                  <a:lnTo>
                    <a:pt x="1095527" y="0"/>
                  </a:lnTo>
                  <a:close/>
                </a:path>
              </a:pathLst>
            </a:custGeom>
            <a:solidFill>
              <a:srgbClr val="FFA835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075908" y="1542981"/>
            <a:ext cx="3173943" cy="1586972"/>
          </a:xfrm>
          <a:custGeom>
            <a:avLst/>
            <a:gdLst/>
            <a:ahLst/>
            <a:cxnLst/>
            <a:rect r="r" b="b" t="t" l="l"/>
            <a:pathLst>
              <a:path h="1586972" w="3173943">
                <a:moveTo>
                  <a:pt x="0" y="0"/>
                </a:moveTo>
                <a:lnTo>
                  <a:pt x="3173943" y="0"/>
                </a:lnTo>
                <a:lnTo>
                  <a:pt x="3173943" y="1586972"/>
                </a:lnTo>
                <a:lnTo>
                  <a:pt x="0" y="1586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130956" y="798401"/>
            <a:ext cx="1063847" cy="1063847"/>
          </a:xfrm>
          <a:custGeom>
            <a:avLst/>
            <a:gdLst/>
            <a:ahLst/>
            <a:cxnLst/>
            <a:rect r="r" b="b" t="t" l="l"/>
            <a:pathLst>
              <a:path h="1063847" w="1063847">
                <a:moveTo>
                  <a:pt x="0" y="0"/>
                </a:moveTo>
                <a:lnTo>
                  <a:pt x="1063847" y="0"/>
                </a:lnTo>
                <a:lnTo>
                  <a:pt x="1063847" y="1063847"/>
                </a:lnTo>
                <a:lnTo>
                  <a:pt x="0" y="10638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999260" y="5919056"/>
            <a:ext cx="6825002" cy="294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Guided By : Prof Yugandhara Pande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AIML161 : Dheeraj Yadav       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AIML154 : Abhishhek Velankar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AIML144 : Abdul Shaikh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AIML145 : Aditya Sharma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68435" y="2251911"/>
            <a:ext cx="9755827" cy="2832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44"/>
              </a:lnSpc>
            </a:pPr>
            <a:r>
              <a:rPr lang="en-US" sz="10040">
                <a:solidFill>
                  <a:srgbClr val="000000"/>
                </a:solidFill>
                <a:latin typeface="Dream Avenue"/>
                <a:ea typeface="Dream Avenue"/>
                <a:cs typeface="Dream Avenue"/>
                <a:sym typeface="Dream Avenue"/>
              </a:rPr>
              <a:t>CHURN </a:t>
            </a:r>
          </a:p>
          <a:p>
            <a:pPr algn="l">
              <a:lnSpc>
                <a:spcPts val="11044"/>
              </a:lnSpc>
            </a:pPr>
            <a:r>
              <a:rPr lang="en-US" sz="10040">
                <a:solidFill>
                  <a:srgbClr val="000000"/>
                </a:solidFill>
                <a:latin typeface="Dream Avenue"/>
                <a:ea typeface="Dream Avenue"/>
                <a:cs typeface="Dream Avenue"/>
                <a:sym typeface="Dream Avenue"/>
              </a:rPr>
              <a:t>PREDICTION</a:t>
            </a:r>
          </a:p>
        </p:txBody>
      </p:sp>
      <p:sp>
        <p:nvSpPr>
          <p:cNvPr name="AutoShape 8" id="8"/>
          <p:cNvSpPr/>
          <p:nvPr/>
        </p:nvSpPr>
        <p:spPr>
          <a:xfrm>
            <a:off x="8068435" y="6205772"/>
            <a:ext cx="2344319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-5399999">
            <a:off x="1737259" y="5127679"/>
            <a:ext cx="1116747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-5402895">
            <a:off x="-5649560" y="5138738"/>
            <a:ext cx="11308644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A5AC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5053" y="1252511"/>
            <a:ext cx="8886430" cy="2559249"/>
            <a:chOff x="0" y="0"/>
            <a:chExt cx="376395" cy="1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6395" cy="108400"/>
            </a:xfrm>
            <a:custGeom>
              <a:avLst/>
              <a:gdLst/>
              <a:ahLst/>
              <a:cxnLst/>
              <a:rect r="r" b="b" t="t" l="l"/>
              <a:pathLst>
                <a:path h="108400" w="376395">
                  <a:moveTo>
                    <a:pt x="29621" y="0"/>
                  </a:moveTo>
                  <a:lnTo>
                    <a:pt x="346774" y="0"/>
                  </a:lnTo>
                  <a:cubicBezTo>
                    <a:pt x="363133" y="0"/>
                    <a:pt x="376395" y="13262"/>
                    <a:pt x="376395" y="29621"/>
                  </a:cubicBezTo>
                  <a:lnTo>
                    <a:pt x="376395" y="78779"/>
                  </a:lnTo>
                  <a:cubicBezTo>
                    <a:pt x="376395" y="95138"/>
                    <a:pt x="363133" y="108400"/>
                    <a:pt x="346774" y="108400"/>
                  </a:cubicBezTo>
                  <a:lnTo>
                    <a:pt x="29621" y="108400"/>
                  </a:lnTo>
                  <a:cubicBezTo>
                    <a:pt x="13262" y="108400"/>
                    <a:pt x="0" y="95138"/>
                    <a:pt x="0" y="78779"/>
                  </a:cubicBezTo>
                  <a:lnTo>
                    <a:pt x="0" y="29621"/>
                  </a:lnTo>
                  <a:cubicBezTo>
                    <a:pt x="0" y="13262"/>
                    <a:pt x="13262" y="0"/>
                    <a:pt x="29621" y="0"/>
                  </a:cubicBezTo>
                  <a:close/>
                </a:path>
              </a:pathLst>
            </a:custGeom>
            <a:solidFill>
              <a:srgbClr val="111827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6395" cy="146500"/>
            </a:xfrm>
            <a:prstGeom prst="rect">
              <a:avLst/>
            </a:prstGeom>
          </p:spPr>
          <p:txBody>
            <a:bodyPr anchor="ctr" rtlCol="false" tIns="158850" lIns="158850" bIns="158850" rIns="158850"/>
            <a:lstStyle/>
            <a:p>
              <a:pPr algn="ctr">
                <a:lnSpc>
                  <a:spcPts val="19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0198" y="863779"/>
            <a:ext cx="8886490" cy="2728197"/>
            <a:chOff x="0" y="0"/>
            <a:chExt cx="376397" cy="1155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6397" cy="115556"/>
            </a:xfrm>
            <a:custGeom>
              <a:avLst/>
              <a:gdLst/>
              <a:ahLst/>
              <a:cxnLst/>
              <a:rect r="r" b="b" t="t" l="l"/>
              <a:pathLst>
                <a:path h="115556" w="376397">
                  <a:moveTo>
                    <a:pt x="29621" y="0"/>
                  </a:moveTo>
                  <a:lnTo>
                    <a:pt x="346777" y="0"/>
                  </a:lnTo>
                  <a:cubicBezTo>
                    <a:pt x="363136" y="0"/>
                    <a:pt x="376397" y="13262"/>
                    <a:pt x="376397" y="29621"/>
                  </a:cubicBezTo>
                  <a:lnTo>
                    <a:pt x="376397" y="85935"/>
                  </a:lnTo>
                  <a:cubicBezTo>
                    <a:pt x="376397" y="93791"/>
                    <a:pt x="373277" y="101325"/>
                    <a:pt x="367722" y="106880"/>
                  </a:cubicBezTo>
                  <a:cubicBezTo>
                    <a:pt x="362167" y="112435"/>
                    <a:pt x="354632" y="115556"/>
                    <a:pt x="346777" y="115556"/>
                  </a:cubicBezTo>
                  <a:lnTo>
                    <a:pt x="29621" y="115556"/>
                  </a:lnTo>
                  <a:cubicBezTo>
                    <a:pt x="13262" y="115556"/>
                    <a:pt x="0" y="102294"/>
                    <a:pt x="0" y="85935"/>
                  </a:cubicBezTo>
                  <a:lnTo>
                    <a:pt x="0" y="29621"/>
                  </a:lnTo>
                  <a:cubicBezTo>
                    <a:pt x="0" y="13262"/>
                    <a:pt x="13262" y="0"/>
                    <a:pt x="29621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111827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376397" cy="182231"/>
            </a:xfrm>
            <a:prstGeom prst="rect">
              <a:avLst/>
            </a:prstGeom>
          </p:spPr>
          <p:txBody>
            <a:bodyPr anchor="ctr" rtlCol="false" tIns="158850" lIns="158850" bIns="158850" rIns="158850"/>
            <a:lstStyle/>
            <a:p>
              <a:pPr algn="ctr">
                <a:lnSpc>
                  <a:spcPts val="3418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75599" y="1144225"/>
            <a:ext cx="7753554" cy="2703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5"/>
              </a:lnSpc>
            </a:pPr>
            <a:r>
              <a:rPr lang="en-US" sz="2903" spc="-116" b="true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Introduction</a:t>
            </a:r>
          </a:p>
          <a:p>
            <a:pPr algn="just">
              <a:lnSpc>
                <a:spcPts val="3505"/>
              </a:lnSpc>
            </a:pPr>
            <a:r>
              <a:rPr lang="en-US" sz="2503" spc="-1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This project constructs a deployable interface for telecommunication churn forecasting, empowering companies to upload datasets for large-scale prediction, analysis, and visual reporting</a:t>
            </a:r>
          </a:p>
          <a:p>
            <a:pPr algn="just">
              <a:lnSpc>
                <a:spcPts val="3505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771246" y="4633416"/>
            <a:ext cx="8372754" cy="4707284"/>
            <a:chOff x="0" y="0"/>
            <a:chExt cx="323580" cy="1819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3580" cy="181922"/>
            </a:xfrm>
            <a:custGeom>
              <a:avLst/>
              <a:gdLst/>
              <a:ahLst/>
              <a:cxnLst/>
              <a:rect r="r" b="b" t="t" l="l"/>
              <a:pathLst>
                <a:path h="181922" w="323580">
                  <a:moveTo>
                    <a:pt x="31438" y="0"/>
                  </a:moveTo>
                  <a:lnTo>
                    <a:pt x="292142" y="0"/>
                  </a:lnTo>
                  <a:cubicBezTo>
                    <a:pt x="300480" y="0"/>
                    <a:pt x="308477" y="3312"/>
                    <a:pt x="314372" y="9208"/>
                  </a:cubicBezTo>
                  <a:cubicBezTo>
                    <a:pt x="320268" y="15104"/>
                    <a:pt x="323580" y="23100"/>
                    <a:pt x="323580" y="31438"/>
                  </a:cubicBezTo>
                  <a:lnTo>
                    <a:pt x="323580" y="150483"/>
                  </a:lnTo>
                  <a:cubicBezTo>
                    <a:pt x="323580" y="158821"/>
                    <a:pt x="320268" y="166818"/>
                    <a:pt x="314372" y="172714"/>
                  </a:cubicBezTo>
                  <a:cubicBezTo>
                    <a:pt x="308477" y="178609"/>
                    <a:pt x="300480" y="181922"/>
                    <a:pt x="292142" y="181922"/>
                  </a:cubicBezTo>
                  <a:lnTo>
                    <a:pt x="31438" y="181922"/>
                  </a:lnTo>
                  <a:cubicBezTo>
                    <a:pt x="23100" y="181922"/>
                    <a:pt x="15104" y="178609"/>
                    <a:pt x="9208" y="172714"/>
                  </a:cubicBezTo>
                  <a:cubicBezTo>
                    <a:pt x="3312" y="166818"/>
                    <a:pt x="0" y="158821"/>
                    <a:pt x="0" y="150483"/>
                  </a:cubicBezTo>
                  <a:lnTo>
                    <a:pt x="0" y="31438"/>
                  </a:lnTo>
                  <a:cubicBezTo>
                    <a:pt x="0" y="23100"/>
                    <a:pt x="3312" y="15104"/>
                    <a:pt x="9208" y="9208"/>
                  </a:cubicBezTo>
                  <a:cubicBezTo>
                    <a:pt x="15104" y="3312"/>
                    <a:pt x="23100" y="0"/>
                    <a:pt x="31438" y="0"/>
                  </a:cubicBezTo>
                  <a:close/>
                </a:path>
              </a:pathLst>
            </a:custGeom>
            <a:solidFill>
              <a:srgbClr val="111827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23580" cy="220022"/>
            </a:xfrm>
            <a:prstGeom prst="rect">
              <a:avLst/>
            </a:prstGeom>
          </p:spPr>
          <p:txBody>
            <a:bodyPr anchor="ctr" rtlCol="false" tIns="174096" lIns="174096" bIns="174096" rIns="174096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57898" y="4302539"/>
            <a:ext cx="8372832" cy="4818562"/>
            <a:chOff x="0" y="0"/>
            <a:chExt cx="3270036" cy="18819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70036" cy="1881905"/>
            </a:xfrm>
            <a:custGeom>
              <a:avLst/>
              <a:gdLst/>
              <a:ahLst/>
              <a:cxnLst/>
              <a:rect r="r" b="b" t="t" l="l"/>
              <a:pathLst>
                <a:path h="1881905" w="3270036">
                  <a:moveTo>
                    <a:pt x="31438" y="0"/>
                  </a:moveTo>
                  <a:lnTo>
                    <a:pt x="3238598" y="0"/>
                  </a:lnTo>
                  <a:cubicBezTo>
                    <a:pt x="3246936" y="0"/>
                    <a:pt x="3254932" y="3312"/>
                    <a:pt x="3260828" y="9208"/>
                  </a:cubicBezTo>
                  <a:cubicBezTo>
                    <a:pt x="3266724" y="15104"/>
                    <a:pt x="3270036" y="23100"/>
                    <a:pt x="3270036" y="31438"/>
                  </a:cubicBezTo>
                  <a:lnTo>
                    <a:pt x="3270036" y="1850467"/>
                  </a:lnTo>
                  <a:cubicBezTo>
                    <a:pt x="3270036" y="1867829"/>
                    <a:pt x="3255961" y="1881905"/>
                    <a:pt x="3238598" y="1881905"/>
                  </a:cubicBezTo>
                  <a:lnTo>
                    <a:pt x="31438" y="1881905"/>
                  </a:lnTo>
                  <a:cubicBezTo>
                    <a:pt x="14075" y="1881905"/>
                    <a:pt x="0" y="1867829"/>
                    <a:pt x="0" y="1850467"/>
                  </a:cubicBezTo>
                  <a:lnTo>
                    <a:pt x="0" y="31438"/>
                  </a:lnTo>
                  <a:cubicBezTo>
                    <a:pt x="0" y="14075"/>
                    <a:pt x="14075" y="0"/>
                    <a:pt x="31438" y="0"/>
                  </a:cubicBezTo>
                  <a:close/>
                </a:path>
              </a:pathLst>
            </a:custGeom>
            <a:solidFill>
              <a:srgbClr val="A7F3D0"/>
            </a:solidFill>
            <a:ln w="47625" cap="rnd">
              <a:solidFill>
                <a:srgbClr val="111827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3270036" cy="1948580"/>
            </a:xfrm>
            <a:prstGeom prst="rect">
              <a:avLst/>
            </a:prstGeom>
          </p:spPr>
          <p:txBody>
            <a:bodyPr anchor="ctr" rtlCol="false" tIns="55771" lIns="55771" bIns="55771" rIns="55771"/>
            <a:lstStyle/>
            <a:p>
              <a:pPr algn="ctr" marL="0" indent="0" lvl="0">
                <a:lnSpc>
                  <a:spcPts val="34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857258" y="5229009"/>
            <a:ext cx="6763663" cy="1271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5"/>
              </a:lnSpc>
            </a:pPr>
            <a:r>
              <a:rPr lang="en-US" sz="2425" spc="-97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Excessive customer departures in telecom services cause major revenue drops, demanding precise prediction tools and clear data insights."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45787" y="4560402"/>
            <a:ext cx="618193" cy="636539"/>
            <a:chOff x="0" y="0"/>
            <a:chExt cx="789374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89374" cy="812800"/>
            </a:xfrm>
            <a:custGeom>
              <a:avLst/>
              <a:gdLst/>
              <a:ahLst/>
              <a:cxnLst/>
              <a:rect r="r" b="b" t="t" l="l"/>
              <a:pathLst>
                <a:path h="812800" w="789374">
                  <a:moveTo>
                    <a:pt x="394687" y="0"/>
                  </a:moveTo>
                  <a:cubicBezTo>
                    <a:pt x="176707" y="0"/>
                    <a:pt x="0" y="181951"/>
                    <a:pt x="0" y="406400"/>
                  </a:cubicBezTo>
                  <a:cubicBezTo>
                    <a:pt x="0" y="630849"/>
                    <a:pt x="176707" y="812800"/>
                    <a:pt x="394687" y="812800"/>
                  </a:cubicBezTo>
                  <a:cubicBezTo>
                    <a:pt x="612667" y="812800"/>
                    <a:pt x="789374" y="630849"/>
                    <a:pt x="789374" y="406400"/>
                  </a:cubicBezTo>
                  <a:cubicBezTo>
                    <a:pt x="789374" y="181951"/>
                    <a:pt x="612667" y="0"/>
                    <a:pt x="394687" y="0"/>
                  </a:cubicBez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4004" y="85725"/>
              <a:ext cx="641366" cy="650875"/>
            </a:xfrm>
            <a:prstGeom prst="rect">
              <a:avLst/>
            </a:prstGeom>
          </p:spPr>
          <p:txBody>
            <a:bodyPr anchor="ctr" rtlCol="false" tIns="55771" lIns="55771" bIns="55771" rIns="55771"/>
            <a:lstStyle/>
            <a:p>
              <a:pPr algn="ctr">
                <a:lnSpc>
                  <a:spcPts val="1929"/>
                </a:lnSpc>
              </a:pPr>
              <a:r>
                <a:rPr lang="en-US" b="true" sz="1753" spc="35">
                  <a:solidFill>
                    <a:srgbClr val="FFFFF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1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679448" y="4599671"/>
            <a:ext cx="4187683" cy="543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7"/>
              </a:lnSpc>
              <a:spcBef>
                <a:spcPct val="0"/>
              </a:spcBef>
            </a:pPr>
            <a:r>
              <a:rPr lang="en-US" b="true" sz="3183" spc="-127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Problem Statement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79448" y="7219822"/>
            <a:ext cx="6572784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spc="-96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 machine learning model, deployed via Streamlit, predicts customer churn and performs exploratory data analysis, aiding in retention strategy development.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84178" y="6500912"/>
            <a:ext cx="579801" cy="57980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9"/>
                </a:lnSpc>
              </a:pPr>
              <a:r>
                <a:rPr lang="en-US" b="true" sz="1753" spc="35">
                  <a:solidFill>
                    <a:srgbClr val="FFFFF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2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679448" y="6600193"/>
            <a:ext cx="5844118" cy="501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  <a:r>
              <a:rPr lang="en-US" b="true" sz="2899" spc="-115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Abstract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876499" y="1032728"/>
            <a:ext cx="7615265" cy="8491351"/>
            <a:chOff x="0" y="0"/>
            <a:chExt cx="322553" cy="35966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2553" cy="359661"/>
            </a:xfrm>
            <a:custGeom>
              <a:avLst/>
              <a:gdLst/>
              <a:ahLst/>
              <a:cxnLst/>
              <a:rect r="r" b="b" t="t" l="l"/>
              <a:pathLst>
                <a:path h="359661" w="322553">
                  <a:moveTo>
                    <a:pt x="34565" y="0"/>
                  </a:moveTo>
                  <a:lnTo>
                    <a:pt x="287988" y="0"/>
                  </a:lnTo>
                  <a:cubicBezTo>
                    <a:pt x="307078" y="0"/>
                    <a:pt x="322553" y="15475"/>
                    <a:pt x="322553" y="34565"/>
                  </a:cubicBezTo>
                  <a:lnTo>
                    <a:pt x="322553" y="325095"/>
                  </a:lnTo>
                  <a:cubicBezTo>
                    <a:pt x="322553" y="344185"/>
                    <a:pt x="307078" y="359661"/>
                    <a:pt x="287988" y="359661"/>
                  </a:cubicBezTo>
                  <a:lnTo>
                    <a:pt x="34565" y="359661"/>
                  </a:lnTo>
                  <a:cubicBezTo>
                    <a:pt x="15475" y="359661"/>
                    <a:pt x="0" y="344185"/>
                    <a:pt x="0" y="325095"/>
                  </a:cubicBezTo>
                  <a:lnTo>
                    <a:pt x="0" y="34565"/>
                  </a:lnTo>
                  <a:cubicBezTo>
                    <a:pt x="0" y="15475"/>
                    <a:pt x="15475" y="0"/>
                    <a:pt x="34565" y="0"/>
                  </a:cubicBezTo>
                  <a:close/>
                </a:path>
              </a:pathLst>
            </a:custGeom>
            <a:solidFill>
              <a:srgbClr val="111827"/>
            </a:solidFill>
            <a:ln cap="rnd">
              <a:noFill/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22553" cy="397761"/>
            </a:xfrm>
            <a:prstGeom prst="rect">
              <a:avLst/>
            </a:prstGeom>
          </p:spPr>
          <p:txBody>
            <a:bodyPr anchor="ctr" rtlCol="false" tIns="158850" lIns="158850" bIns="158850" rIns="158850"/>
            <a:lstStyle/>
            <a:p>
              <a:pPr algn="ctr">
                <a:lnSpc>
                  <a:spcPts val="192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697198" y="674413"/>
            <a:ext cx="7562102" cy="8583887"/>
            <a:chOff x="0" y="0"/>
            <a:chExt cx="3140293" cy="356460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140293" cy="3564607"/>
            </a:xfrm>
            <a:custGeom>
              <a:avLst/>
              <a:gdLst/>
              <a:ahLst/>
              <a:cxnLst/>
              <a:rect r="r" b="b" t="t" l="l"/>
              <a:pathLst>
                <a:path h="3564607" w="3140293">
                  <a:moveTo>
                    <a:pt x="32871" y="0"/>
                  </a:moveTo>
                  <a:lnTo>
                    <a:pt x="3107422" y="0"/>
                  </a:lnTo>
                  <a:cubicBezTo>
                    <a:pt x="3116140" y="0"/>
                    <a:pt x="3124501" y="3463"/>
                    <a:pt x="3130666" y="9628"/>
                  </a:cubicBezTo>
                  <a:cubicBezTo>
                    <a:pt x="3136830" y="15792"/>
                    <a:pt x="3140293" y="24153"/>
                    <a:pt x="3140293" y="32871"/>
                  </a:cubicBezTo>
                  <a:lnTo>
                    <a:pt x="3140293" y="3531736"/>
                  </a:lnTo>
                  <a:cubicBezTo>
                    <a:pt x="3140293" y="3540454"/>
                    <a:pt x="3136830" y="3548815"/>
                    <a:pt x="3130666" y="3554980"/>
                  </a:cubicBezTo>
                  <a:cubicBezTo>
                    <a:pt x="3124501" y="3561144"/>
                    <a:pt x="3116140" y="3564607"/>
                    <a:pt x="3107422" y="3564607"/>
                  </a:cubicBezTo>
                  <a:lnTo>
                    <a:pt x="32871" y="3564607"/>
                  </a:lnTo>
                  <a:cubicBezTo>
                    <a:pt x="24153" y="3564607"/>
                    <a:pt x="15792" y="3561144"/>
                    <a:pt x="9628" y="3554980"/>
                  </a:cubicBezTo>
                  <a:cubicBezTo>
                    <a:pt x="3463" y="3548815"/>
                    <a:pt x="0" y="3540454"/>
                    <a:pt x="0" y="3531736"/>
                  </a:cubicBezTo>
                  <a:lnTo>
                    <a:pt x="0" y="32871"/>
                  </a:lnTo>
                  <a:cubicBezTo>
                    <a:pt x="0" y="24153"/>
                    <a:pt x="3463" y="15792"/>
                    <a:pt x="9628" y="9628"/>
                  </a:cubicBezTo>
                  <a:cubicBezTo>
                    <a:pt x="15792" y="3463"/>
                    <a:pt x="24153" y="0"/>
                    <a:pt x="32871" y="0"/>
                  </a:cubicBezTo>
                  <a:close/>
                </a:path>
              </a:pathLst>
            </a:custGeom>
            <a:solidFill>
              <a:srgbClr val="FCDD7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140293" cy="3593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0588761" y="947259"/>
            <a:ext cx="4187683" cy="543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7"/>
              </a:lnSpc>
              <a:spcBef>
                <a:spcPct val="0"/>
              </a:spcBef>
            </a:pPr>
            <a:r>
              <a:rPr lang="en-US" b="true" sz="3183" spc="-127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Literature Survey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876499" y="863779"/>
            <a:ext cx="579801" cy="57980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9"/>
                </a:lnSpc>
              </a:pPr>
              <a:r>
                <a:rPr lang="en-US" b="true" sz="1753" spc="35">
                  <a:solidFill>
                    <a:srgbClr val="FFFFF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D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28504" y="0"/>
            <a:ext cx="7429134" cy="10287000"/>
            <a:chOff x="0" y="0"/>
            <a:chExt cx="3185400" cy="44107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85400" cy="4410772"/>
            </a:xfrm>
            <a:custGeom>
              <a:avLst/>
              <a:gdLst/>
              <a:ahLst/>
              <a:cxnLst/>
              <a:rect r="r" b="b" t="t" l="l"/>
              <a:pathLst>
                <a:path h="4410772" w="3185400">
                  <a:moveTo>
                    <a:pt x="35431" y="0"/>
                  </a:moveTo>
                  <a:lnTo>
                    <a:pt x="3149969" y="0"/>
                  </a:lnTo>
                  <a:cubicBezTo>
                    <a:pt x="3159366" y="0"/>
                    <a:pt x="3168378" y="3733"/>
                    <a:pt x="3175023" y="10378"/>
                  </a:cubicBezTo>
                  <a:cubicBezTo>
                    <a:pt x="3181667" y="17022"/>
                    <a:pt x="3185400" y="26034"/>
                    <a:pt x="3185400" y="35431"/>
                  </a:cubicBezTo>
                  <a:lnTo>
                    <a:pt x="3185400" y="4375340"/>
                  </a:lnTo>
                  <a:cubicBezTo>
                    <a:pt x="3185400" y="4384737"/>
                    <a:pt x="3181667" y="4393750"/>
                    <a:pt x="3175023" y="4400394"/>
                  </a:cubicBezTo>
                  <a:cubicBezTo>
                    <a:pt x="3168378" y="4407039"/>
                    <a:pt x="3159366" y="4410772"/>
                    <a:pt x="3149969" y="4410772"/>
                  </a:cubicBezTo>
                  <a:lnTo>
                    <a:pt x="35431" y="4410772"/>
                  </a:lnTo>
                  <a:cubicBezTo>
                    <a:pt x="26034" y="4410772"/>
                    <a:pt x="17022" y="4407039"/>
                    <a:pt x="10378" y="4400394"/>
                  </a:cubicBezTo>
                  <a:cubicBezTo>
                    <a:pt x="3733" y="4393750"/>
                    <a:pt x="0" y="4384737"/>
                    <a:pt x="0" y="4375340"/>
                  </a:cubicBezTo>
                  <a:lnTo>
                    <a:pt x="0" y="35431"/>
                  </a:lnTo>
                  <a:cubicBezTo>
                    <a:pt x="0" y="26034"/>
                    <a:pt x="3733" y="17022"/>
                    <a:pt x="10378" y="10378"/>
                  </a:cubicBezTo>
                  <a:cubicBezTo>
                    <a:pt x="17022" y="3733"/>
                    <a:pt x="26034" y="0"/>
                    <a:pt x="35431" y="0"/>
                  </a:cubicBezTo>
                  <a:close/>
                </a:path>
              </a:pathLst>
            </a:custGeom>
            <a:solidFill>
              <a:srgbClr val="FECACA"/>
            </a:solidFill>
            <a:ln w="47625" cap="rnd">
              <a:solidFill>
                <a:srgbClr val="111827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3185400" cy="4477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463332" y="111186"/>
            <a:ext cx="579801" cy="57980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9"/>
                </a:lnSpc>
              </a:pPr>
              <a:r>
                <a:rPr lang="en-US" b="true" sz="1753" spc="35">
                  <a:solidFill>
                    <a:srgbClr val="FFFFF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4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753232" y="401087"/>
            <a:ext cx="6506068" cy="10205596"/>
          </a:xfrm>
          <a:custGeom>
            <a:avLst/>
            <a:gdLst/>
            <a:ahLst/>
            <a:cxnLst/>
            <a:rect r="r" b="b" t="t" l="l"/>
            <a:pathLst>
              <a:path h="10205596" w="6506068">
                <a:moveTo>
                  <a:pt x="0" y="0"/>
                </a:moveTo>
                <a:lnTo>
                  <a:pt x="6506068" y="0"/>
                </a:lnTo>
                <a:lnTo>
                  <a:pt x="6506068" y="10205596"/>
                </a:lnTo>
                <a:lnTo>
                  <a:pt x="0" y="102055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94935" y="702471"/>
            <a:ext cx="8844049" cy="4687753"/>
            <a:chOff x="0" y="0"/>
            <a:chExt cx="375241" cy="1988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5241" cy="198895"/>
            </a:xfrm>
            <a:custGeom>
              <a:avLst/>
              <a:gdLst/>
              <a:ahLst/>
              <a:cxnLst/>
              <a:rect r="r" b="b" t="t" l="l"/>
              <a:pathLst>
                <a:path h="198895" w="375241">
                  <a:moveTo>
                    <a:pt x="29763" y="0"/>
                  </a:moveTo>
                  <a:lnTo>
                    <a:pt x="345478" y="0"/>
                  </a:lnTo>
                  <a:cubicBezTo>
                    <a:pt x="361916" y="0"/>
                    <a:pt x="375241" y="13325"/>
                    <a:pt x="375241" y="29763"/>
                  </a:cubicBezTo>
                  <a:lnTo>
                    <a:pt x="375241" y="169132"/>
                  </a:lnTo>
                  <a:cubicBezTo>
                    <a:pt x="375241" y="177026"/>
                    <a:pt x="372106" y="184596"/>
                    <a:pt x="366524" y="190178"/>
                  </a:cubicBezTo>
                  <a:cubicBezTo>
                    <a:pt x="360942" y="195759"/>
                    <a:pt x="353372" y="198895"/>
                    <a:pt x="345478" y="198895"/>
                  </a:cubicBezTo>
                  <a:lnTo>
                    <a:pt x="29763" y="198895"/>
                  </a:lnTo>
                  <a:cubicBezTo>
                    <a:pt x="21869" y="198895"/>
                    <a:pt x="14299" y="195759"/>
                    <a:pt x="8717" y="190178"/>
                  </a:cubicBezTo>
                  <a:cubicBezTo>
                    <a:pt x="3136" y="184596"/>
                    <a:pt x="0" y="177026"/>
                    <a:pt x="0" y="169132"/>
                  </a:cubicBezTo>
                  <a:lnTo>
                    <a:pt x="0" y="29763"/>
                  </a:lnTo>
                  <a:cubicBezTo>
                    <a:pt x="0" y="21869"/>
                    <a:pt x="3136" y="14299"/>
                    <a:pt x="8717" y="8717"/>
                  </a:cubicBezTo>
                  <a:cubicBezTo>
                    <a:pt x="14299" y="3136"/>
                    <a:pt x="21869" y="0"/>
                    <a:pt x="29763" y="0"/>
                  </a:cubicBezTo>
                  <a:close/>
                </a:path>
              </a:pathLst>
            </a:custGeom>
            <a:solidFill>
              <a:srgbClr val="111827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75241" cy="236995"/>
            </a:xfrm>
            <a:prstGeom prst="rect">
              <a:avLst/>
            </a:prstGeom>
          </p:spPr>
          <p:txBody>
            <a:bodyPr anchor="ctr" rtlCol="false" tIns="158578" lIns="158578" bIns="158578" rIns="158578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69578" y="401087"/>
            <a:ext cx="8844132" cy="4789113"/>
            <a:chOff x="0" y="0"/>
            <a:chExt cx="3792111" cy="20534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92111" cy="2053435"/>
            </a:xfrm>
            <a:custGeom>
              <a:avLst/>
              <a:gdLst/>
              <a:ahLst/>
              <a:cxnLst/>
              <a:rect r="r" b="b" t="t" l="l"/>
              <a:pathLst>
                <a:path h="2053435" w="3792111">
                  <a:moveTo>
                    <a:pt x="29763" y="0"/>
                  </a:moveTo>
                  <a:lnTo>
                    <a:pt x="3762349" y="0"/>
                  </a:lnTo>
                  <a:cubicBezTo>
                    <a:pt x="3778786" y="0"/>
                    <a:pt x="3792111" y="13325"/>
                    <a:pt x="3792111" y="29763"/>
                  </a:cubicBezTo>
                  <a:lnTo>
                    <a:pt x="3792111" y="2023672"/>
                  </a:lnTo>
                  <a:cubicBezTo>
                    <a:pt x="3792111" y="2031566"/>
                    <a:pt x="3788975" y="2039136"/>
                    <a:pt x="3783394" y="2044717"/>
                  </a:cubicBezTo>
                  <a:cubicBezTo>
                    <a:pt x="3777812" y="2050299"/>
                    <a:pt x="3770242" y="2053435"/>
                    <a:pt x="3762349" y="2053435"/>
                  </a:cubicBezTo>
                  <a:lnTo>
                    <a:pt x="29763" y="2053435"/>
                  </a:lnTo>
                  <a:cubicBezTo>
                    <a:pt x="13325" y="2053435"/>
                    <a:pt x="0" y="2040110"/>
                    <a:pt x="0" y="2023672"/>
                  </a:cubicBezTo>
                  <a:lnTo>
                    <a:pt x="0" y="29763"/>
                  </a:lnTo>
                  <a:cubicBezTo>
                    <a:pt x="0" y="21869"/>
                    <a:pt x="3136" y="14299"/>
                    <a:pt x="8717" y="8717"/>
                  </a:cubicBezTo>
                  <a:cubicBezTo>
                    <a:pt x="14299" y="3136"/>
                    <a:pt x="21869" y="0"/>
                    <a:pt x="29763" y="0"/>
                  </a:cubicBezTo>
                  <a:close/>
                </a:path>
              </a:pathLst>
            </a:custGeom>
            <a:solidFill>
              <a:srgbClr val="FDE68A"/>
            </a:solidFill>
            <a:ln w="47625" cap="rnd">
              <a:solidFill>
                <a:srgbClr val="111827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3792111" cy="2120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89086" y="708555"/>
            <a:ext cx="652991" cy="579801"/>
            <a:chOff x="0" y="0"/>
            <a:chExt cx="915401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5401" cy="812800"/>
            </a:xfrm>
            <a:custGeom>
              <a:avLst/>
              <a:gdLst/>
              <a:ahLst/>
              <a:cxnLst/>
              <a:rect r="r" b="b" t="t" l="l"/>
              <a:pathLst>
                <a:path h="812800" w="915401">
                  <a:moveTo>
                    <a:pt x="457700" y="0"/>
                  </a:moveTo>
                  <a:cubicBezTo>
                    <a:pt x="204919" y="0"/>
                    <a:pt x="0" y="181951"/>
                    <a:pt x="0" y="406400"/>
                  </a:cubicBezTo>
                  <a:cubicBezTo>
                    <a:pt x="0" y="630849"/>
                    <a:pt x="204919" y="812800"/>
                    <a:pt x="457700" y="812800"/>
                  </a:cubicBezTo>
                  <a:cubicBezTo>
                    <a:pt x="710481" y="812800"/>
                    <a:pt x="915401" y="630849"/>
                    <a:pt x="915401" y="406400"/>
                  </a:cubicBezTo>
                  <a:cubicBezTo>
                    <a:pt x="915401" y="181951"/>
                    <a:pt x="710481" y="0"/>
                    <a:pt x="457700" y="0"/>
                  </a:cubicBez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85819" y="85725"/>
              <a:ext cx="743763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9"/>
                </a:lnSpc>
              </a:pPr>
              <a:r>
                <a:rPr lang="en-US" b="true" sz="1753" spc="35">
                  <a:solidFill>
                    <a:srgbClr val="FFFFF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3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92174" y="1384887"/>
            <a:ext cx="8521535" cy="375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398" spc="-95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Customer churn poses a critical challenge for businesses, leading to revenue loss and high customer acquisition costs. Predicting churn enables targeted retention strategies to keep valuable customers.</a:t>
            </a:r>
          </a:p>
          <a:p>
            <a:pPr algn="l">
              <a:lnSpc>
                <a:spcPts val="3357"/>
              </a:lnSpc>
            </a:pPr>
            <a:r>
              <a:rPr lang="en-US" sz="2398" spc="-95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This project aims to build a machine learning model that classifies customers as likely to churn or not based on demographics, contract details, and service usage, helping businesses retain customers and enhance sustainability.</a:t>
            </a:r>
          </a:p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909733" y="714469"/>
            <a:ext cx="4423404" cy="501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  <a:r>
              <a:rPr lang="en-US" b="true" sz="2899" spc="-115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Prposed System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82003" y="117100"/>
            <a:ext cx="3927616" cy="501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  <a:r>
              <a:rPr lang="en-US" b="true" sz="2899" spc="-115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Methodology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906712" y="5774749"/>
            <a:ext cx="3532272" cy="4358192"/>
            <a:chOff x="0" y="0"/>
            <a:chExt cx="149870" cy="18491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9870" cy="184912"/>
            </a:xfrm>
            <a:custGeom>
              <a:avLst/>
              <a:gdLst/>
              <a:ahLst/>
              <a:cxnLst/>
              <a:rect r="r" b="b" t="t" l="l"/>
              <a:pathLst>
                <a:path h="184912" w="149870">
                  <a:moveTo>
                    <a:pt x="74520" y="0"/>
                  </a:moveTo>
                  <a:lnTo>
                    <a:pt x="75350" y="0"/>
                  </a:lnTo>
                  <a:cubicBezTo>
                    <a:pt x="95114" y="0"/>
                    <a:pt x="114068" y="7851"/>
                    <a:pt x="128043" y="21826"/>
                  </a:cubicBezTo>
                  <a:cubicBezTo>
                    <a:pt x="142018" y="35802"/>
                    <a:pt x="149870" y="54756"/>
                    <a:pt x="149870" y="74520"/>
                  </a:cubicBezTo>
                  <a:lnTo>
                    <a:pt x="149870" y="110392"/>
                  </a:lnTo>
                  <a:cubicBezTo>
                    <a:pt x="149870" y="151549"/>
                    <a:pt x="116506" y="184912"/>
                    <a:pt x="75350" y="184912"/>
                  </a:cubicBezTo>
                  <a:lnTo>
                    <a:pt x="74520" y="184912"/>
                  </a:lnTo>
                  <a:cubicBezTo>
                    <a:pt x="33364" y="184912"/>
                    <a:pt x="0" y="151549"/>
                    <a:pt x="0" y="110392"/>
                  </a:cubicBezTo>
                  <a:lnTo>
                    <a:pt x="0" y="74520"/>
                  </a:lnTo>
                  <a:cubicBezTo>
                    <a:pt x="0" y="33364"/>
                    <a:pt x="33364" y="0"/>
                    <a:pt x="74520" y="0"/>
                  </a:cubicBezTo>
                  <a:close/>
                </a:path>
              </a:pathLst>
            </a:custGeom>
            <a:solidFill>
              <a:srgbClr val="111827"/>
            </a:solidFill>
            <a:ln cap="rnd">
              <a:noFill/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49870" cy="223012"/>
            </a:xfrm>
            <a:prstGeom prst="rect">
              <a:avLst/>
            </a:prstGeom>
          </p:spPr>
          <p:txBody>
            <a:bodyPr anchor="ctr" rtlCol="false" tIns="158578" lIns="158578" bIns="158578" rIns="158578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975243" y="8190471"/>
            <a:ext cx="579801" cy="57980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9"/>
                </a:lnSpc>
              </a:pPr>
              <a:r>
                <a:rPr lang="en-US" b="true" sz="1753" spc="35">
                  <a:solidFill>
                    <a:srgbClr val="FFFFF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5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856276" y="8123796"/>
            <a:ext cx="2357434" cy="1009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  <a:r>
              <a:rPr lang="en-US" b="true" sz="2899" spc="-115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Organizing and planning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5516183" y="5609299"/>
            <a:ext cx="3551795" cy="4311302"/>
            <a:chOff x="0" y="0"/>
            <a:chExt cx="390382" cy="47386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90382" cy="473861"/>
            </a:xfrm>
            <a:custGeom>
              <a:avLst/>
              <a:gdLst/>
              <a:ahLst/>
              <a:cxnLst/>
              <a:rect r="r" b="b" t="t" l="l"/>
              <a:pathLst>
                <a:path h="473861" w="390382">
                  <a:moveTo>
                    <a:pt x="74110" y="0"/>
                  </a:moveTo>
                  <a:lnTo>
                    <a:pt x="316272" y="0"/>
                  </a:lnTo>
                  <a:cubicBezTo>
                    <a:pt x="357202" y="0"/>
                    <a:pt x="390382" y="33180"/>
                    <a:pt x="390382" y="74110"/>
                  </a:cubicBezTo>
                  <a:lnTo>
                    <a:pt x="390382" y="399750"/>
                  </a:lnTo>
                  <a:cubicBezTo>
                    <a:pt x="390382" y="419406"/>
                    <a:pt x="382574" y="438256"/>
                    <a:pt x="368676" y="452154"/>
                  </a:cubicBezTo>
                  <a:cubicBezTo>
                    <a:pt x="354778" y="466053"/>
                    <a:pt x="335927" y="473861"/>
                    <a:pt x="316272" y="473861"/>
                  </a:cubicBezTo>
                  <a:lnTo>
                    <a:pt x="74110" y="473861"/>
                  </a:lnTo>
                  <a:cubicBezTo>
                    <a:pt x="54455" y="473861"/>
                    <a:pt x="35605" y="466053"/>
                    <a:pt x="21706" y="452154"/>
                  </a:cubicBezTo>
                  <a:cubicBezTo>
                    <a:pt x="7808" y="438256"/>
                    <a:pt x="0" y="419406"/>
                    <a:pt x="0" y="399750"/>
                  </a:cubicBezTo>
                  <a:lnTo>
                    <a:pt x="0" y="74110"/>
                  </a:lnTo>
                  <a:cubicBezTo>
                    <a:pt x="0" y="54455"/>
                    <a:pt x="7808" y="35605"/>
                    <a:pt x="21706" y="21706"/>
                  </a:cubicBezTo>
                  <a:cubicBezTo>
                    <a:pt x="35605" y="7808"/>
                    <a:pt x="54455" y="0"/>
                    <a:pt x="74110" y="0"/>
                  </a:cubicBezTo>
                  <a:close/>
                </a:path>
              </a:pathLst>
            </a:custGeom>
            <a:solidFill>
              <a:srgbClr val="75D0D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90382" cy="502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5825592" y="6389584"/>
            <a:ext cx="3023471" cy="3326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29"/>
              </a:lnSpc>
              <a:spcBef>
                <a:spcPct val="0"/>
              </a:spcBef>
            </a:pPr>
            <a:r>
              <a:rPr lang="en-US" sz="2092">
                <a:solidFill>
                  <a:srgbClr val="111827"/>
                </a:solidFill>
                <a:latin typeface="Garet"/>
                <a:ea typeface="Garet"/>
                <a:cs typeface="Garet"/>
                <a:sym typeface="Garet"/>
              </a:rPr>
              <a:t>Future work can explore deep learning for improved accuracy, real-time predictions for proactive retention, and integration of customer feedback for richer insights.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5753336" y="5774749"/>
            <a:ext cx="579801" cy="57980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9"/>
                </a:lnSpc>
              </a:pPr>
              <a:r>
                <a:rPr lang="en-US" b="true" sz="1753" spc="35">
                  <a:solidFill>
                    <a:srgbClr val="FFFFF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6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6452618" y="5718600"/>
            <a:ext cx="2396445" cy="501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  <a:r>
              <a:rPr lang="en-US" b="true" sz="2899" spc="-115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Future work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28700" y="5774749"/>
            <a:ext cx="3519748" cy="4358192"/>
            <a:chOff x="0" y="0"/>
            <a:chExt cx="149338" cy="18491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9338" cy="184912"/>
            </a:xfrm>
            <a:custGeom>
              <a:avLst/>
              <a:gdLst/>
              <a:ahLst/>
              <a:cxnLst/>
              <a:rect r="r" b="b" t="t" l="l"/>
              <a:pathLst>
                <a:path h="184912" w="149338">
                  <a:moveTo>
                    <a:pt x="74669" y="0"/>
                  </a:moveTo>
                  <a:lnTo>
                    <a:pt x="74669" y="0"/>
                  </a:lnTo>
                  <a:cubicBezTo>
                    <a:pt x="94473" y="0"/>
                    <a:pt x="113465" y="7867"/>
                    <a:pt x="127468" y="21870"/>
                  </a:cubicBezTo>
                  <a:cubicBezTo>
                    <a:pt x="141471" y="35873"/>
                    <a:pt x="149338" y="54866"/>
                    <a:pt x="149338" y="74669"/>
                  </a:cubicBezTo>
                  <a:lnTo>
                    <a:pt x="149338" y="110243"/>
                  </a:lnTo>
                  <a:cubicBezTo>
                    <a:pt x="149338" y="151482"/>
                    <a:pt x="115908" y="184912"/>
                    <a:pt x="74669" y="184912"/>
                  </a:cubicBezTo>
                  <a:lnTo>
                    <a:pt x="74669" y="184912"/>
                  </a:lnTo>
                  <a:cubicBezTo>
                    <a:pt x="33431" y="184912"/>
                    <a:pt x="0" y="151482"/>
                    <a:pt x="0" y="110243"/>
                  </a:cubicBezTo>
                  <a:lnTo>
                    <a:pt x="0" y="74669"/>
                  </a:lnTo>
                  <a:cubicBezTo>
                    <a:pt x="0" y="33431"/>
                    <a:pt x="33431" y="0"/>
                    <a:pt x="74669" y="0"/>
                  </a:cubicBezTo>
                  <a:close/>
                </a:path>
              </a:pathLst>
            </a:custGeom>
            <a:solidFill>
              <a:srgbClr val="111827"/>
            </a:solidFill>
            <a:ln cap="rnd">
              <a:noFill/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49338" cy="223012"/>
            </a:xfrm>
            <a:prstGeom prst="rect">
              <a:avLst/>
            </a:prstGeom>
          </p:spPr>
          <p:txBody>
            <a:bodyPr anchor="ctr" rtlCol="false" tIns="158578" lIns="158578" bIns="158578" rIns="158578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51234" y="8355921"/>
            <a:ext cx="579801" cy="579801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9"/>
                </a:lnSpc>
              </a:pPr>
              <a:r>
                <a:rPr lang="en-US" b="true" sz="1753" spc="35">
                  <a:solidFill>
                    <a:srgbClr val="FFFFF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5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2032268" y="8289246"/>
            <a:ext cx="2357434" cy="1009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  <a:r>
              <a:rPr lang="en-US" b="true" sz="2899" spc="-115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Organizing and planning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692174" y="5774749"/>
            <a:ext cx="3551795" cy="4311302"/>
            <a:chOff x="0" y="0"/>
            <a:chExt cx="390382" cy="47386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90382" cy="473861"/>
            </a:xfrm>
            <a:custGeom>
              <a:avLst/>
              <a:gdLst/>
              <a:ahLst/>
              <a:cxnLst/>
              <a:rect r="r" b="b" t="t" l="l"/>
              <a:pathLst>
                <a:path h="473861" w="390382">
                  <a:moveTo>
                    <a:pt x="74110" y="0"/>
                  </a:moveTo>
                  <a:lnTo>
                    <a:pt x="316272" y="0"/>
                  </a:lnTo>
                  <a:cubicBezTo>
                    <a:pt x="357202" y="0"/>
                    <a:pt x="390382" y="33180"/>
                    <a:pt x="390382" y="74110"/>
                  </a:cubicBezTo>
                  <a:lnTo>
                    <a:pt x="390382" y="399750"/>
                  </a:lnTo>
                  <a:cubicBezTo>
                    <a:pt x="390382" y="419406"/>
                    <a:pt x="382574" y="438256"/>
                    <a:pt x="368676" y="452154"/>
                  </a:cubicBezTo>
                  <a:cubicBezTo>
                    <a:pt x="354778" y="466053"/>
                    <a:pt x="335927" y="473861"/>
                    <a:pt x="316272" y="473861"/>
                  </a:cubicBezTo>
                  <a:lnTo>
                    <a:pt x="74110" y="473861"/>
                  </a:lnTo>
                  <a:cubicBezTo>
                    <a:pt x="54455" y="473861"/>
                    <a:pt x="35605" y="466053"/>
                    <a:pt x="21706" y="452154"/>
                  </a:cubicBezTo>
                  <a:cubicBezTo>
                    <a:pt x="7808" y="438256"/>
                    <a:pt x="0" y="419406"/>
                    <a:pt x="0" y="399750"/>
                  </a:cubicBezTo>
                  <a:lnTo>
                    <a:pt x="0" y="74110"/>
                  </a:lnTo>
                  <a:cubicBezTo>
                    <a:pt x="0" y="54455"/>
                    <a:pt x="7808" y="35605"/>
                    <a:pt x="21706" y="21706"/>
                  </a:cubicBezTo>
                  <a:cubicBezTo>
                    <a:pt x="35605" y="7808"/>
                    <a:pt x="54455" y="0"/>
                    <a:pt x="74110" y="0"/>
                  </a:cubicBezTo>
                  <a:close/>
                </a:path>
              </a:pathLst>
            </a:custGeom>
            <a:solidFill>
              <a:srgbClr val="75D0DF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390382" cy="502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001584" y="6577965"/>
            <a:ext cx="2932977" cy="3709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>
                <a:solidFill>
                  <a:srgbClr val="111827"/>
                </a:solidFill>
                <a:latin typeface="Garet"/>
                <a:ea typeface="Garet"/>
                <a:cs typeface="Garet"/>
                <a:sym typeface="Garet"/>
              </a:rPr>
              <a:t>To develop a machine learning model that predicts customer churn, enabling businesses to identify at-risk customers, reduce revenue loss, and improve retention.</a:t>
            </a:r>
          </a:p>
          <a:p>
            <a:pPr algn="just">
              <a:lnSpc>
                <a:spcPts val="2939"/>
              </a:lnSpc>
              <a:spcBef>
                <a:spcPct val="0"/>
              </a:spcBef>
            </a:pPr>
          </a:p>
        </p:txBody>
      </p:sp>
      <p:grpSp>
        <p:nvGrpSpPr>
          <p:cNvPr name="Group 47" id="47"/>
          <p:cNvGrpSpPr/>
          <p:nvPr/>
        </p:nvGrpSpPr>
        <p:grpSpPr>
          <a:xfrm rot="0">
            <a:off x="882968" y="5929997"/>
            <a:ext cx="536533" cy="579801"/>
            <a:chOff x="0" y="0"/>
            <a:chExt cx="752143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52143" cy="812800"/>
            </a:xfrm>
            <a:custGeom>
              <a:avLst/>
              <a:gdLst/>
              <a:ahLst/>
              <a:cxnLst/>
              <a:rect r="r" b="b" t="t" l="l"/>
              <a:pathLst>
                <a:path h="812800" w="752143">
                  <a:moveTo>
                    <a:pt x="376072" y="0"/>
                  </a:moveTo>
                  <a:cubicBezTo>
                    <a:pt x="168373" y="0"/>
                    <a:pt x="0" y="181951"/>
                    <a:pt x="0" y="406400"/>
                  </a:cubicBezTo>
                  <a:cubicBezTo>
                    <a:pt x="0" y="630849"/>
                    <a:pt x="168373" y="812800"/>
                    <a:pt x="376072" y="812800"/>
                  </a:cubicBezTo>
                  <a:cubicBezTo>
                    <a:pt x="583770" y="812800"/>
                    <a:pt x="752143" y="630849"/>
                    <a:pt x="752143" y="406400"/>
                  </a:cubicBezTo>
                  <a:cubicBezTo>
                    <a:pt x="752143" y="181951"/>
                    <a:pt x="583770" y="0"/>
                    <a:pt x="376072" y="0"/>
                  </a:cubicBez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70513" y="85725"/>
              <a:ext cx="611116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9"/>
                </a:lnSpc>
              </a:pPr>
              <a:r>
                <a:rPr lang="en-US" b="true" sz="1753" spc="35">
                  <a:solidFill>
                    <a:srgbClr val="FFFFF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5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576688" y="5935911"/>
            <a:ext cx="2396445" cy="501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  <a:r>
              <a:rPr lang="en-US" b="true" sz="2899" spc="-115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Objective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DAGi1gdwPTo</dc:identifier>
  <dcterms:modified xsi:type="dcterms:W3CDTF">2011-08-01T06:04:30Z</dcterms:modified>
  <cp:revision>1</cp:revision>
  <dc:title>Introduction: "This project constructs a deployable interface for telecommunication churn forecasting, empowering companies to upload datasets for large-scale prediction, analysis, and visual reporting."</dc:title>
</cp:coreProperties>
</file>